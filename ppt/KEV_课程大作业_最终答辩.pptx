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85234c383fe4180" /><Relationship Type="http://schemas.openxmlformats.org/officeDocument/2006/relationships/extended-properties" Target="/docProps/app.xml" Id="R0ad1e77079524113" /><Relationship Type="http://schemas.openxmlformats.org/officeDocument/2006/relationships/officeDocument" Target="/ppt/presentation.xml" Id="R73469725d17445f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48e2943b53d48f4"/>
  </p:sldMasterIdLst>
  <p:notesMasterIdLst>
    <p:notesMasterId xmlns:r="http://schemas.openxmlformats.org/officeDocument/2006/relationships" r:id="R706f9f06080746c2"/>
  </p:notesMasterIdLst>
  <p:sldIdLst>
    <p:sldId xmlns:r="http://schemas.openxmlformats.org/officeDocument/2006/relationships" id="256" r:id="Rd4dff58b9a2249b3"/>
    <p:sldId xmlns:r="http://schemas.openxmlformats.org/officeDocument/2006/relationships" id="257" r:id="Rc0a815f278d9435b"/>
    <p:sldId xmlns:r="http://schemas.openxmlformats.org/officeDocument/2006/relationships" id="258" r:id="Rf8f0a4e653aa4e5e"/>
    <p:sldId xmlns:r="http://schemas.openxmlformats.org/officeDocument/2006/relationships" id="259" r:id="R24a0b2e068654207"/>
    <p:sldId xmlns:r="http://schemas.openxmlformats.org/officeDocument/2006/relationships" id="260" r:id="R8f4a8a5f41654a36"/>
    <p:sldId xmlns:r="http://schemas.openxmlformats.org/officeDocument/2006/relationships" id="261" r:id="R06f0ecf764ad49a8"/>
    <p:sldId xmlns:r="http://schemas.openxmlformats.org/officeDocument/2006/relationships" id="262" r:id="Ra25f6f36fc464e6a"/>
    <p:sldId xmlns:r="http://schemas.openxmlformats.org/officeDocument/2006/relationships" id="263" r:id="R412245a330ca4930"/>
    <p:sldId xmlns:r="http://schemas.openxmlformats.org/officeDocument/2006/relationships" id="264" r:id="Rf2c36b0e4df24f13"/>
    <p:sldId xmlns:r="http://schemas.openxmlformats.org/officeDocument/2006/relationships" id="265" r:id="Re6b3b10c910645fa"/>
    <p:sldId xmlns:r="http://schemas.openxmlformats.org/officeDocument/2006/relationships" id="266" r:id="R082172c7c1994c2c"/>
    <p:sldId xmlns:r="http://schemas.openxmlformats.org/officeDocument/2006/relationships" id="267" r:id="R1387245ced6c4163"/>
    <p:sldId xmlns:r="http://schemas.openxmlformats.org/officeDocument/2006/relationships" id="268" r:id="Ra1170af9dfd14594"/>
    <p:sldId xmlns:r="http://schemas.openxmlformats.org/officeDocument/2006/relationships" id="269" r:id="Rbaf3cb9501924d9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937020d6c3d4bb7" /><Relationship Type="http://schemas.openxmlformats.org/officeDocument/2006/relationships/slideMaster" Target="/ppt/slideMasters/slideMaster1.xml" Id="R748e2943b53d48f4" /><Relationship Type="http://schemas.openxmlformats.org/officeDocument/2006/relationships/notesMaster" Target="/ppt/notesMasters/notesMaster1.xml" Id="R706f9f06080746c2" /><Relationship Type="http://schemas.openxmlformats.org/officeDocument/2006/relationships/presProps" Target="/ppt/presProps.xml" Id="R3662dc6817b943fa" /><Relationship Type="http://schemas.openxmlformats.org/officeDocument/2006/relationships/tableStyles" Target="/ppt/tableStyles.xml" Id="R9aefbdc241814733" /><Relationship Type="http://schemas.openxmlformats.org/officeDocument/2006/relationships/slide" Target="/ppt/slides/slide1.xml" Id="Rd4dff58b9a2249b3" /><Relationship Type="http://schemas.openxmlformats.org/officeDocument/2006/relationships/slide" Target="/ppt/slides/slide2.xml" Id="Rc0a815f278d9435b" /><Relationship Type="http://schemas.openxmlformats.org/officeDocument/2006/relationships/slide" Target="/ppt/slides/slide3.xml" Id="Rf8f0a4e653aa4e5e" /><Relationship Type="http://schemas.openxmlformats.org/officeDocument/2006/relationships/slide" Target="/ppt/slides/slide4.xml" Id="R24a0b2e068654207" /><Relationship Type="http://schemas.openxmlformats.org/officeDocument/2006/relationships/slide" Target="/ppt/slides/slide5.xml" Id="R8f4a8a5f41654a36" /><Relationship Type="http://schemas.openxmlformats.org/officeDocument/2006/relationships/slide" Target="/ppt/slides/slide6.xml" Id="R06f0ecf764ad49a8" /><Relationship Type="http://schemas.openxmlformats.org/officeDocument/2006/relationships/slide" Target="/ppt/slides/slide7.xml" Id="Ra25f6f36fc464e6a" /><Relationship Type="http://schemas.openxmlformats.org/officeDocument/2006/relationships/slide" Target="/ppt/slides/slide8.xml" Id="R412245a330ca4930" /><Relationship Type="http://schemas.openxmlformats.org/officeDocument/2006/relationships/slide" Target="/ppt/slides/slide9.xml" Id="Rf2c36b0e4df24f13" /><Relationship Type="http://schemas.openxmlformats.org/officeDocument/2006/relationships/slide" Target="/ppt/slides/slide10.xml" Id="Re6b3b10c910645fa" /><Relationship Type="http://schemas.openxmlformats.org/officeDocument/2006/relationships/slide" Target="/ppt/slides/slide11.xml" Id="R082172c7c1994c2c" /><Relationship Type="http://schemas.openxmlformats.org/officeDocument/2006/relationships/slide" Target="/ppt/slides/slide12.xml" Id="R1387245ced6c4163" /><Relationship Type="http://schemas.openxmlformats.org/officeDocument/2006/relationships/slide" Target="/ppt/slides/slide13.xml" Id="Ra1170af9dfd14594" /><Relationship Type="http://schemas.openxmlformats.org/officeDocument/2006/relationships/slide" Target="/ppt/slides/slide14.xml" Id="Rbaf3cb9501924d9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e4837c4b790441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20ca17cbca24e22" /><Relationship Type="http://schemas.openxmlformats.org/officeDocument/2006/relationships/notesMaster" Target="/ppt/notesMasters/notesMaster1.xml" Id="R1d0d3d2d1637415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96d2ba34e224250" /><Relationship Type="http://schemas.openxmlformats.org/officeDocument/2006/relationships/notesMaster" Target="/ppt/notesMasters/notesMaster1.xml" Id="R861ec2a596b2409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50f81200fc84c96" /><Relationship Type="http://schemas.openxmlformats.org/officeDocument/2006/relationships/notesMaster" Target="/ppt/notesMasters/notesMaster1.xml" Id="R3167ec4c2ba54c7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bc30d3a24a94658" /><Relationship Type="http://schemas.openxmlformats.org/officeDocument/2006/relationships/notesMaster" Target="/ppt/notesMasters/notesMaster1.xml" Id="Rea0744b2a0dd452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506e3b29dbe403a" /><Relationship Type="http://schemas.openxmlformats.org/officeDocument/2006/relationships/notesMaster" Target="/ppt/notesMasters/notesMaster1.xml" Id="Rcba7b875777b4cf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baf68d296844346" /><Relationship Type="http://schemas.openxmlformats.org/officeDocument/2006/relationships/notesMaster" Target="/ppt/notesMasters/notesMaster1.xml" Id="R8a6e4be46afa4e8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138095d4fbd48cb" /><Relationship Type="http://schemas.openxmlformats.org/officeDocument/2006/relationships/notesMaster" Target="/ppt/notesMasters/notesMaster1.xml" Id="Ra548651521b5482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b434b5783dc4cc7" /><Relationship Type="http://schemas.openxmlformats.org/officeDocument/2006/relationships/notesMaster" Target="/ppt/notesMasters/notesMaster1.xml" Id="R8c9e00147dfd4ea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44e1a43fa5e40b0" /><Relationship Type="http://schemas.openxmlformats.org/officeDocument/2006/relationships/notesMaster" Target="/ppt/notesMasters/notesMaster1.xml" Id="R75136e9b5b56475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ddc66d8e33c4622" /><Relationship Type="http://schemas.openxmlformats.org/officeDocument/2006/relationships/notesMaster" Target="/ppt/notesMasters/notesMaster1.xml" Id="R78e49ebe679b4e9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e24286ad8064a16" /><Relationship Type="http://schemas.openxmlformats.org/officeDocument/2006/relationships/notesMaster" Target="/ppt/notesMasters/notesMaster1.xml" Id="R1d595e4bfbb74ea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7f152b8e0d144f1" /><Relationship Type="http://schemas.openxmlformats.org/officeDocument/2006/relationships/notesMaster" Target="/ppt/notesMasters/notesMaster1.xml" Id="R96584041f01447b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a12d6552ebf450a" /><Relationship Type="http://schemas.openxmlformats.org/officeDocument/2006/relationships/notesMaster" Target="/ppt/notesMasters/notesMaster1.xml" Id="R817c30b2aeb74ac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9a285fed1fc48dc" /><Relationship Type="http://schemas.openxmlformats.org/officeDocument/2006/relationships/notesMaster" Target="/ppt/notesMasters/notesMaster1.xml" Id="R82fcac92d57a482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开场：本项目使用课程指定的CISA KEV本地快照，先建立可靠的数据底座，再完成统计、查询、GUI和机器学习扩展。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课程附件：CISA_KEV_2026-07-29.json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介绍背景：KEV是优先处置目录，不是完整漏洞数据库。项目所有分析都只基于快照，不将记录数量解释为攻击频率或厂商安全性。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- 3kev.pdf，第1页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说明项目覆盖：四个必做模块共80分，GUI与机器学习是扩展。展示完成情况时，强调各模块共享同一个数据契约。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docs/requirements-traceability.md</a:t>
            </a:r>
          </a:p>
          <a:p xmlns:a="http://schemas.openxmlformats.org/drawingml/2006/main">
            <a:r>
              <a:t>- outputs/manifests/run_manifest.json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讲解架构：Loader只读，Validator不改值，Cleaner生成独立副本。分析模块接收同一个Prepared表，Exporter统一写出CSV、PNG、HTML和Manifest。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docs/architecture.md</a:t>
            </a:r>
          </a:p>
          <a:p xmlns:a="http://schemas.openxmlformats.org/drawingml/2006/main">
            <a:r>
              <a:t>- src/kev_analysis/pipeline.py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成员一重点：说明为什么先验证再清洗，以及为什么空CWE必须保留。所有校验结果来自正式validation输出。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outputs/validation/metadata.json</a:t>
            </a:r>
          </a:p>
          <a:p xmlns:a="http://schemas.openxmlformats.org/drawingml/2006/main">
            <a:r>
              <a:t>- outputs/validation/validation_summary.csv</a:t>
            </a:r>
          </a:p>
          <a:p xmlns:a="http://schemas.openxmlformats.org/drawingml/2006/main">
            <a:r>
              <a:t>- outputs/validation/field_profile.csv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成员二讲解：2021和2026覆盖不完整，不能直接与完整年度比较。期限是CISA目录行动窗口，不是实际修复耗时。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outputs/tables/annual_added_summary.csv</a:t>
            </a:r>
          </a:p>
          <a:p xmlns:a="http://schemas.openxmlformats.org/drawingml/2006/main">
            <a:r>
              <a:t>- outputs/tables/deadline_descriptive.csv</a:t>
            </a:r>
          </a:p>
          <a:p xmlns:a="http://schemas.openxmlformats.org/drawingml/2006/main">
            <a:r>
              <a:t>- outputs/figures/monthly_added_trend.png</a:t>
            </a:r>
          </a:p>
          <a:p xmlns:a="http://schemas.openxmlformats.org/drawingml/2006/main">
            <a:r>
              <a:t>- outputs/figures/deadline_distribution.png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状态字段只允许Known和Unknown。讲解时不要把Unknown说成没有勒索软件利用。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outputs/tables/ransomware_summary.csv</a:t>
            </a:r>
          </a:p>
          <a:p xmlns:a="http://schemas.openxmlformats.org/drawingml/2006/main">
            <a:r>
              <a:t>- outputs/tables/ransomware_by_year.csv</a:t>
            </a:r>
          </a:p>
          <a:p xmlns:a="http://schemas.openxmlformats.org/drawingml/2006/main">
            <a:r>
              <a:t>- outputs/figures/ransomware_by_year.png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厂商分组只使用去除首尾空格的clean字段，不做模糊合并。HHI按0到1的份额平方求和，不乘10000。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outputs/tables/vendor_summary.csv</a:t>
            </a:r>
          </a:p>
          <a:p xmlns:a="http://schemas.openxmlformats.org/drawingml/2006/main">
            <a:r>
              <a:t>- outputs/tables/concentration_metrics.csv</a:t>
            </a:r>
          </a:p>
          <a:p xmlns:a="http://schemas.openxmlformats.org/drawingml/2006/main">
            <a:r>
              <a:t>- outputs/figures/vendor_top15.png</a:t>
            </a:r>
          </a:p>
          <a:p xmlns:a="http://schemas.openxmlformats.org/drawingml/2006/main">
            <a:r>
              <a:t>- outputs/figures/vendor_cumulative_share.png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成员三讲解：先explode再按不同CVE计数。总体、Known和Unknown必须分别使用1485、294和1191作为分母。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outputs/tables/cve_cwe_long.csv</a:t>
            </a:r>
          </a:p>
          <a:p xmlns:a="http://schemas.openxmlformats.org/drawingml/2006/main">
            <a:r>
              <a:t>- outputs/tables/cwe_overall_summary.csv</a:t>
            </a:r>
          </a:p>
          <a:p xmlns:a="http://schemas.openxmlformats.org/drawingml/2006/main">
            <a:r>
              <a:t>- outputs/tables/cwe_known_summary.csv</a:t>
            </a:r>
          </a:p>
          <a:p xmlns:a="http://schemas.openxmlformats.org/drawingml/2006/main">
            <a:r>
              <a:t>- outputs/tables/cwe_unknown_summary.csv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成员三讲解：展示接口规则和三组案例。重点强调AND组合、CWE精确成员匹配以及实际记录导出，而不是只打印数量。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outputs/queries/query_cases_summary.csv</a:t>
            </a:r>
          </a:p>
          <a:p xmlns:a="http://schemas.openxmlformats.org/drawingml/2006/main">
            <a:r>
              <a:t>- src/kev_analysis/query.py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成员三讲解：页面截图展示上传后的真实状态。强调GUI调用公共Loader、Validator、Cleaner和查询函数。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screenshots/01-data-overview.png</a:t>
            </a:r>
          </a:p>
          <a:p xmlns:a="http://schemas.openxmlformats.org/drawingml/2006/main">
            <a:r>
              <a:t>- app.py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成员二讲解模型方法和结果，成员三配合展示GUI聚类页。说明轮廓系数低、类别重叠，因此不能把聚类当作官方漏洞类型。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outputs/ml/ml_cluster_selection.csv</a:t>
            </a:r>
          </a:p>
          <a:p xmlns:a="http://schemas.openxmlformats.org/drawingml/2006/main">
            <a:r>
              <a:t>- outputs/ml/ml_cluster_summary.csv</a:t>
            </a:r>
          </a:p>
          <a:p xmlns:a="http://schemas.openxmlformats.org/drawingml/2006/main">
            <a:r>
              <a:t>- outputs/ml/ml_clusters.png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现场演示顺序：上传原始JSON，展示校验状态，设置Microsoft、Known、CWE-119，确认4条结果，查看动态图和详情，导出文件，最后打开机器学习页。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screenshots/02-combined-query-cwe.png</a:t>
            </a:r>
          </a:p>
          <a:p xmlns:a="http://schemas.openxmlformats.org/drawingml/2006/main">
            <a:r>
              <a:t>- outputs/queries/query_cases_summary.csv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总结：回到开场的问题，系统不是用目录记录数评价厂商，而是建立可靠、可复现、可解释的快照分析流程。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report/FINAL_REPORT.md</a:t>
            </a:r>
          </a:p>
          <a:p xmlns:a="http://schemas.openxmlformats.org/drawingml/2006/main">
            <a:r>
              <a:t>- docs/checklists/final-delivery-checklist.md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389fb075e74ab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a52ada55f664a08" /><Relationship Type="http://schemas.openxmlformats.org/officeDocument/2006/relationships/slideLayout" Target="/ppt/slideLayouts/slideLayout1.xml" Id="R9d29ae117b2a4dc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d29ae117b2a4dc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42694805dc4d92" /><Relationship Type="http://schemas.openxmlformats.org/officeDocument/2006/relationships/notesSlide" Target="/ppt/notesSlides/notesSlide1.xml" Id="Rfb0ce9fc14c9494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ee892b7e854ec8" /><Relationship Type="http://schemas.openxmlformats.org/officeDocument/2006/relationships/notesSlide" Target="/ppt/notesSlides/notesSlide2.xml" Id="Rdc8ca2170ea745c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90ad120b6a41ad" /><Relationship Type="http://schemas.openxmlformats.org/officeDocument/2006/relationships/notesSlide" Target="/ppt/notesSlides/notesSlide3.xml" Id="Reb59eefcba464e3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8f38f924a44ac2" /><Relationship Type="http://schemas.openxmlformats.org/officeDocument/2006/relationships/notesSlide" Target="/ppt/notesSlides/notesSlide4.xml" Id="Rc5ed3cbc3b4d4df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5996c3fae141c2" /><Relationship Type="http://schemas.openxmlformats.org/officeDocument/2006/relationships/notesSlide" Target="/ppt/notesSlides/notesSlide5.xml" Id="R0c818bc9bb64461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8f829217644796" /><Relationship Type="http://schemas.openxmlformats.org/officeDocument/2006/relationships/image" Target="/ppt/media/image.png" Id="R7c47037fe98c486a" /><Relationship Type="http://schemas.openxmlformats.org/officeDocument/2006/relationships/image" Target="/ppt/media/image2.png" Id="R684eb1f46ed64510" /><Relationship Type="http://schemas.openxmlformats.org/officeDocument/2006/relationships/notesSlide" Target="/ppt/notesSlides/notesSlide6.xml" Id="Ra2500ab97d4b44f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67ae6428ff4cae" /><Relationship Type="http://schemas.openxmlformats.org/officeDocument/2006/relationships/image" Target="/ppt/media/image3.png" Id="R7269d2a9ef9a41a1" /><Relationship Type="http://schemas.openxmlformats.org/officeDocument/2006/relationships/notesSlide" Target="/ppt/notesSlides/notesSlide7.xml" Id="R92f2c6cda7f54ed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e6f05fea414e6a" /><Relationship Type="http://schemas.openxmlformats.org/officeDocument/2006/relationships/image" Target="/ppt/media/image4.png" Id="Rf1f4d1ab094d4937" /><Relationship Type="http://schemas.openxmlformats.org/officeDocument/2006/relationships/image" Target="/ppt/media/image5.png" Id="Rcfc82315dd7e40f6" /><Relationship Type="http://schemas.openxmlformats.org/officeDocument/2006/relationships/notesSlide" Target="/ppt/notesSlides/notesSlide8.xml" Id="Rd3e5e1a8db76453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ff74f5b0c1402f" /><Relationship Type="http://schemas.openxmlformats.org/officeDocument/2006/relationships/image" Target="/ppt/media/image6.png" Id="R832f17f0216f448b" /><Relationship Type="http://schemas.openxmlformats.org/officeDocument/2006/relationships/image" Target="/ppt/media/image7.png" Id="R79d9e42316e2409d" /><Relationship Type="http://schemas.openxmlformats.org/officeDocument/2006/relationships/notesSlide" Target="/ppt/notesSlides/notesSlide9.xml" Id="Rdbea990778ec4ff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60d8e386114dc9" /><Relationship Type="http://schemas.openxmlformats.org/officeDocument/2006/relationships/notesSlide" Target="/ppt/notesSlides/notesSlide10.xml" Id="R88ea9b21d85348c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06a22beed74961" /><Relationship Type="http://schemas.openxmlformats.org/officeDocument/2006/relationships/image" Target="/ppt/media/image8.png" Id="Re8876c3c39f74ef4" /><Relationship Type="http://schemas.openxmlformats.org/officeDocument/2006/relationships/notesSlide" Target="/ppt/notesSlides/notesSlide11.xml" Id="Ref34282f0076446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6d63d5f0aa4834" /><Relationship Type="http://schemas.openxmlformats.org/officeDocument/2006/relationships/image" Target="/ppt/media/image9.png" Id="R14f519b126b343f9" /><Relationship Type="http://schemas.openxmlformats.org/officeDocument/2006/relationships/notesSlide" Target="/ppt/notesSlides/notesSlide12.xml" Id="R554054297f4746f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ba95c91d0b4217" /><Relationship Type="http://schemas.openxmlformats.org/officeDocument/2006/relationships/image" Target="/ppt/media/image10.png" Id="R8b5d6188261642ee" /><Relationship Type="http://schemas.openxmlformats.org/officeDocument/2006/relationships/notesSlide" Target="/ppt/notesSlides/notesSlide13.xml" Id="Rfe9862724f2c467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2955d43f4f49c0" /><Relationship Type="http://schemas.openxmlformats.org/officeDocument/2006/relationships/notesSlide" Target="/ppt/notesSlides/notesSlide14.xml" Id="R86bc387966e946d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DB5088-E6F5-4DAA-9D05-DD3368089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A5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92BBEA-8D53-43AC-B36E-35104FAF6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704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1">
                <a:solidFill>
                  <a:srgbClr val="93C5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93C5FD"/>
                </a:solidFill>
                <a:latin typeface="Microsoft YaHei"/>
                <a:ea typeface="Microsoft YaHei"/>
                <a:cs typeface="Microsoft YaHei"/>
              </a:rPr>
              <a:t>COURSE PROJECT · QUESTION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1690F8-1603-4D45-943C-9104993C3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28750"/>
            <a:ext cx="6858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CISA KEV目录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4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分析与查询系统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269209-191A-4007-A7CC-01E8C228D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38500"/>
            <a:ext cx="609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基于 CISA_KEV_2026-07-29.json 的可复现分析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F9C8FD-5149-456C-B8B7-3A7226CB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14800"/>
            <a:ext cx="9858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E5133D-4009-4881-B5B1-B6C6704AF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6245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E2E8F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E2E8F0"/>
                </a:solidFill>
                <a:latin typeface="Microsoft YaHei"/>
                <a:ea typeface="Microsoft YaHei"/>
                <a:cs typeface="Microsoft YaHei"/>
              </a:rPr>
              <a:t>数据底座  /  统计分析  /  CWE与查询  /  GUI与机器学习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5BA06A-4A4E-4B78-A260-CD2B02539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93C5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3C5FD"/>
                </a:solidFill>
                <a:latin typeface="Microsoft YaHei"/>
                <a:ea typeface="Microsoft YaHei"/>
                <a:cs typeface="Microsoft YaHei"/>
              </a:rPr>
              <a:t>成员一 · 成员二 · 成员三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920C99-A981-4829-8B8E-2A7819DF9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581025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13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2026.08</a:t>
            </a:r>
          </a:p>
        </p:txBody>
      </p:sp>
    </p:spTree>
    <p:extLst>
      <p:ext uri="{BB962C8B-B14F-4D97-AF65-F5344CB8AC3E}">
        <p14:creationId xmlns:p14="http://schemas.microsoft.com/office/powerpoint/2010/main" val="63423725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B28FAD-80F1-4DA4-A7AB-E203507C5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01 / CONTEXT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70A4CD-91DB-48AE-BE1F-B2E4DC205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8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目录记录提供证据，不等于攻击全貌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3016A1-FE9B-49FF-9101-45E9261B1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我们先明确数据能回答什么，再决定如何分析。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FCC8CA-E90A-4239-9E2A-4EF0CBA8C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45720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487BFF-8EFC-49F9-B12A-890B04F9D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0505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CISA KEV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6C05F2-6FD7-48AE-B232-CC5D9AA15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57500"/>
            <a:ext cx="333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BFDB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BFDBFE"/>
                </a:solidFill>
                <a:latin typeface="Microsoft YaHei"/>
                <a:ea typeface="Microsoft YaHei"/>
                <a:cs typeface="Microsoft YaHei"/>
              </a:rPr>
              <a:t>已知在野利用漏洞目录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0D57E2-6619-4A8D-B3AA-B8000E8F0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638550"/>
            <a:ext cx="3333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有CV​​E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有明确修复措施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有可靠利用证据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CDE069-5DED-4626-919E-E88ECBF9E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943100"/>
            <a:ext cx="59245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5BE4CE-6658-41C5-8BCE-595914D04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2669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本题的四个必做问题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CAB14C-1B74-49E9-92BD-985382493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76550"/>
            <a:ext cx="4762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数据结构和字段质量是否可靠？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6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加入目录时间与行动窗口如何分布？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6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厂商、产品与CWE标签如何集中？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6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能否按多个条件稳定查询并复现？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1DFD59-DE12-4A45-AC58-1236A4192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7625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rPr>
              <a:t>边界：目录记录数 ≠ 攻击次数；Unknown ≠ 未被利用。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0426BE-9623-4E5B-899F-A8EB32A27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E4C207-E3A8-46DF-9851-840FFE858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CISA KEV · 课程大作业第3题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F4BD58-A4E2-4146-97C3-55DEDFB79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5722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4235161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DCC94AA-F175-4601-93BA-D2BC12E2C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02 / SCOPE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5000B8-D958-471F-802D-FA09AE3B8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8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从80分必做到100分扩展，形成一条完整流水线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81C5CD-3E1E-44BE-A6F3-15910182C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四个必做模块统一在同一个Prepared数据契约上。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919E4C-60B9-4AD5-BB66-F9AC99236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85950"/>
            <a:ext cx="76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模块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419897-E5CA-4969-89F8-7B035B349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885950"/>
            <a:ext cx="485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交付内容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C81E3D-9DB3-490D-8E5E-0AAF5F7BD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1885950"/>
            <a:ext cx="76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1200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分值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FF15CC-F6FC-44A1-BB6B-C59AEBBAF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8859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主责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DA5467-F141-48B0-99C3-5905C004F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0972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FA2229-69BE-4E74-9366-2DC1FD824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479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8FABC8-92B0-4548-9D04-B8579B63A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247900"/>
            <a:ext cx="495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JSON读取、验证、清洗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223B09-3B8A-4B66-85C4-CB22CF58A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247900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15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20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45C4C1-5D36-4BA7-A9D8-BB10C39B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247900"/>
            <a:ext cx="228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数据底座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508B94-4AA3-445A-A44D-7FD076BB2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10972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D9357D-9B35-4B27-BC1F-A14B1640C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003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91D82D-CD1F-40E0-9C63-4BEFF5459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00350"/>
            <a:ext cx="495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时间、期限、状态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34049A-E68D-40FC-9A83-DDE945A03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800350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15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20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9D0ACC-7548-41AC-9941-69183C3E9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00350"/>
            <a:ext cx="228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统计分析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B6C42D-38A1-45DC-9CB3-AE8336A75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76600"/>
            <a:ext cx="10972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7E5986-0F3C-454E-BE0B-39765B1D2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528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F0681D-511D-43D4-8F7E-39294B2A4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352800"/>
            <a:ext cx="495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厂商、产品、集中度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6B633D-DEA6-4CEE-9604-21CB09E14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352800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15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20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423F86-CE86-429A-9883-60FD7693A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352800"/>
            <a:ext cx="228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统计分析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63A3BC9-40A9-4800-A027-06612FC9B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10972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568E753-9F4D-49AA-BD05-90EA7DDC5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052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28DC5C4-38CB-4D04-B599-A6A6583D0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05250"/>
            <a:ext cx="495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CWE多标签、组合查询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530000C-5FFE-4E1F-8682-7BB56E735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905250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15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20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D0CD863-B046-41B7-9FB2-5821C14EC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905250"/>
            <a:ext cx="228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查询服务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1EB1888-2C27-4D91-9218-BBEE37EC2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10972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748C0AE-1801-4AD6-83D5-B985F2F0A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577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DD38E2B-BC02-46FA-B679-1BBD7D838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57700"/>
            <a:ext cx="495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Streamlit GUI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70D153A-63F4-46B5-BEFD-4911E8644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457700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15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13092EA-1F18-4207-B8AA-31681E36F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457700"/>
            <a:ext cx="228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交互扩展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F71C233-C201-47A7-9A4C-9721E1059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33950"/>
            <a:ext cx="10972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9BC9DB5-0677-4D70-87ED-D9A943C93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101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827E86E-7140-45EA-B453-B85A5A3E1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010150"/>
            <a:ext cx="495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TF-IDF + KMeans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2F05004-B951-4EAB-8BDB-3F9DE6F7C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5010150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15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B7009F4-678D-4C1E-BBF8-320FB845B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010150"/>
            <a:ext cx="228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探索扩展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F728ADB-D5A6-48D5-A107-DAFC96CD5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10972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4C7543C-9ADD-4CEA-BCEB-5248CEB8B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810250"/>
            <a:ext cx="1009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项目状态：代码已整合 · 正式产物可生成 · 报告与演示材料已统一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61CB309-0C1F-4CC3-87AF-6497AC8E5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97420A2-B87A-4720-BA88-9BFA7236B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CISA KEV · 课程大作业第3题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69BAC4E-3B2A-45EB-82A7-25972DF06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5722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2592776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1DBA5E3-151C-4C4F-AA12-B7B6E32BF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03 /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4CF897-D304-418B-9F50-483E442A8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8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先验证，再清洗；一次读取，多个分析出口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4A885A-E537-4034-9442-C900101FF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公共Prepared DataFrame是三名成员协作的单一事实源。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CEFC56-ED7D-4B0B-86FC-C175825D5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0"/>
            <a:ext cx="1428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BEDF7E-218E-495D-B7E4-90BC946E2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384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JSON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A6CAA5-5233-4F88-A9F0-EDE1E9902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8135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050" b="0">
                <a:solidFill>
                  <a:srgbClr val="E0F2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E0F2FE"/>
                </a:solidFill>
                <a:latin typeface="Microsoft YaHei"/>
                <a:ea typeface="Microsoft YaHei"/>
                <a:cs typeface="Microsoft YaHei"/>
              </a:rPr>
              <a:t>课程快照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9F9963-AF8B-4C3E-A2C5-BF440037A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667000"/>
            <a:ext cx="1428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77B82E-2ABD-4FF9-8FA8-F2B355A62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8384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Loader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EFE5DC-E9BC-4F51-AA23-E29BD01FC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18135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050" b="0">
                <a:solidFill>
                  <a:srgbClr val="E0F2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E0F2FE"/>
                </a:solidFill>
                <a:latin typeface="Microsoft YaHei"/>
                <a:ea typeface="Microsoft YaHei"/>
                <a:cs typeface="Microsoft YaHei"/>
              </a:rPr>
              <a:t>元数据 + 数组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21725A-2FD6-41B4-9602-FE667E33A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667000"/>
            <a:ext cx="1428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E06E96-D102-4F6F-9AC4-2D64ABF27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8384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Validator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9CB391-BD5E-4D0F-82AD-EFAD54391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18135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050" b="0">
                <a:solidFill>
                  <a:srgbClr val="E0F2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E0F2FE"/>
                </a:solidFill>
                <a:latin typeface="Microsoft YaHei"/>
                <a:ea typeface="Microsoft YaHei"/>
                <a:cs typeface="Microsoft YaHei"/>
              </a:rPr>
              <a:t>结构 + 逻辑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A51AA0-D31A-4622-B649-ED5B5513C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667000"/>
            <a:ext cx="1428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DB4840-1C72-44A4-8AFC-967913F13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8384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Cleaner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739876-5221-4D1D-A490-5674B9757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18135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050" b="0">
                <a:solidFill>
                  <a:srgbClr val="E0F2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E0F2FE"/>
                </a:solidFill>
                <a:latin typeface="Microsoft YaHei"/>
                <a:ea typeface="Microsoft YaHei"/>
                <a:cs typeface="Microsoft YaHei"/>
              </a:rPr>
              <a:t>Prepared 18列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A1BC07-E236-4A8E-8195-5816C8F14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06705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A5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35784F-981A-4340-B9B9-4FFFF6647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6705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A5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1DF1E8-FE46-4430-AD9A-DEE5CA761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06705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A5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C6C95D-575A-4A61-AFFE-E003B1E9C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476750"/>
            <a:ext cx="2095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E3E705-BAD7-44D4-826E-4BA3C5C14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629150"/>
            <a:ext cx="1828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统计分析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5B78E2-420C-4AA1-BE94-89D67FBF9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943475"/>
            <a:ext cx="18669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1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时间 / 期限 / 厂商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9FB1E60-755E-4D84-AB7E-5F5529FCA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476750"/>
            <a:ext cx="2095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84D7EA3-21B7-4698-98FB-575D0B862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629150"/>
            <a:ext cx="1828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CWE与查询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2AB0ED-276C-44C3-A2D6-9A59414B6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943475"/>
            <a:ext cx="18669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1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多标签 / AND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53F706-8F98-42ED-895B-302DD4FB1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476750"/>
            <a:ext cx="2095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89C8FF3-4657-44F3-8134-92A5A0DE3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629150"/>
            <a:ext cx="1828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GUI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753899-7212-4B6C-9228-EF90C4252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943475"/>
            <a:ext cx="18669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1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上传 / 筛选 / 导出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8F8BEAA-8929-42B2-9B65-DAD2B5F5C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476750"/>
            <a:ext cx="2095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EB08DB4-D11D-4E01-B937-505030CAB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629150"/>
            <a:ext cx="1828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文本聚类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A6DF86C-DE5C-437D-83B4-29DE4CB27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943475"/>
            <a:ext cx="18669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1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TF-IDF + KMeans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386121B-A89D-4E01-B9D0-5BE7869B3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876675"/>
            <a:ext cx="8572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570952A-DD40-458B-AFFB-04AA69CBC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810250"/>
            <a:ext cx="3238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Exporter + run_manifest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A45284F-A672-46C4-A259-31486EBBE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6EBDEF2-16CB-4DF0-8F59-372081375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CISA KEV · 课程大作业第3题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3097FC6-1B30-402C-B635-3E232ED86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5722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58493065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3CB6E73-2EF9-4B4B-8EB3-0A877FA50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04 / DATA QUALITY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64F046-61E3-4C0B-9F58-5324702AD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8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1,656条记录全部通过结构与逻辑校验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1EA920-48AC-49C8-AC7C-B2FD8DADC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数据质量控制是后续统计可信度的前提。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7D86A0-4F90-46C5-81DE-835271B97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33337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F186E5-F9E5-4FE3-BA75-9A062523D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2714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4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1,656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F70FA2-7DE2-4A24-98E2-DEBFE8C27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90875"/>
            <a:ext cx="2714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0">
                <a:solidFill>
                  <a:srgbClr val="BFDB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BFDBFE"/>
                </a:solidFill>
                <a:latin typeface="Microsoft YaHei"/>
                <a:ea typeface="Microsoft YaHei"/>
                <a:cs typeface="Microsoft YaHei"/>
              </a:rPr>
              <a:t>条原始记录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505DCC-D37A-4715-B010-6E26119B0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05250"/>
            <a:ext cx="2714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35000"/>
              </a:lnSpc>
              <a:buNone/>
              <a:defRPr sz="16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11个原始字段</a:t>
            </a:r>
          </a:p>
          <a:p xmlns:a="http://schemas.openxmlformats.org/drawingml/2006/main">
            <a:pPr algn="ctr">
              <a:lnSpc>
                <a:spcPct val="135000"/>
              </a:lnSpc>
              <a:buNone/>
              <a:defRPr sz="16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1,485条含CWE</a:t>
            </a:r>
          </a:p>
          <a:p xmlns:a="http://schemas.openxmlformats.org/drawingml/2006/main">
            <a:pPr algn="ctr">
              <a:lnSpc>
                <a:spcPct val="135000"/>
              </a:lnSpc>
              <a:buNone/>
              <a:defRPr sz="16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171条空CWE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98AF95-241E-4635-86F2-CB30BB867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00025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1A750A-7F82-4658-A796-8B1658961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1990725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80F0BC-5580-44A9-9AC5-5D7966FEF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count与行数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EF7005-24EA-4D38-B616-2E3B08589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9812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1656 = 1656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BFE336-FB07-4341-8189-A72C5D013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524125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A08FC6-BCE6-43F2-9127-15E19FC61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251460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3937D8-A398-41EE-B798-75B312690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505075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CVE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8CA3AD-26B7-4E16-97D0-5A8E9AC7A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505075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非空、唯一、格式合法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2C0FEE-3EA1-4597-8048-C254F5579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04800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C4BDC8-518A-47E5-B2C2-2FB5A07AE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038475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178FDF-E74E-43BB-B281-C85CB3D05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0289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日期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9F2BE0-96D0-4A79-9AD6-38D043AEC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2895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可解析且 dueDate ≥ dateAdded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06D912-FFF2-4AAD-8CA3-851F51294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571875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8BFA39-C580-42F3-ABF7-9F10A0DEC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56235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C0A0A78-5109-4852-B877-7A2D67E46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552825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状态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6E6328-B378-4A28-B209-4581D676B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552825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仅 Known / Unknown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7F9F38-AD8A-46B8-AFCE-A9D8F86A9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09575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AF340F-6092-4974-AF35-92E67ECB4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4086225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1A6244-1322-42BA-B22D-EE2D0767C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076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CWE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38B808-24FB-422A-B4AE-1417BD628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0767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列表类型与成员格式合法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E6B9AEC-5E6F-427F-9C33-FE648911E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619625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3F6AEF0-DE68-4C23-8231-EDDB4BBDC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461010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8B2C487-4951-47E7-AE8C-3F00476BE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600575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关键文本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2AC96A6-D6DC-4810-8739-7A0F4358D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600575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无空值或空字符串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426947D-75A4-4F17-A5AA-621E54E69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429250"/>
            <a:ext cx="6477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1FA3456-6AEA-47AD-A76B-FE5463D3A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5553075"/>
            <a:ext cx="600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清洗只去除厂商/产品首尾空格，原始字段永不覆盖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05A7186-4FEF-4289-959D-AC24A2A2B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96DC28F-C909-4F41-A2EC-81F308F5E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CISA KEV · 课程大作业第3题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183C98B-EFF3-4AF6-B6E4-B87B9C2A6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5722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41825958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939D64-73C0-406E-95F0-6918AF5C1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05 / TIME &amp; DEADLINE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C122F7-A093-4EF2-9688-A713E4440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8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加入目录的时间存在阶段性高值，行动窗口集中在21天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F23632-4498-4529-8AB5-6A175C954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不完整年度必须用覆盖范围校正后再比较。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47037fe98c486a"/>
          <a:stretch xmlns:a="http://schemas.openxmlformats.org/drawingml/2006/main"/>
        </p:blipFill>
        <p:spPr>
          <a:xfrm xmlns:a="http://schemas.openxmlformats.org/drawingml/2006/main">
            <a:off x="571500" y="2013720"/>
            <a:ext cx="5429250" cy="2449561"/>
          </a:xfrm>
          <a:prstGeom xmlns:a="http://schemas.openxmlformats.org/drawingml/2006/main" prst="rect">
            <a:avLst/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4eb1f46ed64510"/>
          <a:stretch xmlns:a="http://schemas.openxmlformats.org/drawingml/2006/main"/>
        </p:blipFill>
        <p:spPr>
          <a:xfrm xmlns:a="http://schemas.openxmlformats.org/drawingml/2006/main">
            <a:off x="6794766" y="1809750"/>
            <a:ext cx="4222218" cy="28575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223E44-7270-4B7B-9EBB-0FEE09FE4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5429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F2C70D-F0FF-42B0-A610-BC94B0D68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197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年度口径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6F1F06-811D-489E-890B-9C797038B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21970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2022–2025完整年度；2021与2026不完整。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37C03A-34B7-42FF-A62A-E1C546DCD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48250"/>
            <a:ext cx="5429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76FD5E-0311-482F-B9FE-FD2F8791B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2197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期限口径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F8A141-2CE2-4A6F-92EE-0DCA7827D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2197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中位数21天，平均43.69天，范围1–184天。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64D651-134C-47A2-9C15-6218AE3CF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9448E7-0549-427A-B173-AE5BE3899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CISA KEV · 课程大作业第3题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B579FA-D2AB-4137-992A-EDFBE34EF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5722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69830813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658242-CCCB-41B0-8DA3-25B8876B1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06 / CONFIRMATION STATUS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2E27D3-2C55-417F-837C-D3DA1FE28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8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Known比例在2025年后下降，但不能解释为真实活动率下降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3341B9-F3AB-4AD2-BE87-58A96CB90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Unknown是尚未确认，不是负面证据。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69d2a9ef9a41a1"/>
          <a:stretch xmlns:a="http://schemas.openxmlformats.org/drawingml/2006/main"/>
        </p:blipFill>
        <p:spPr>
          <a:xfrm xmlns:a="http://schemas.openxmlformats.org/drawingml/2006/main">
            <a:off x="868119" y="1809750"/>
            <a:ext cx="6150462" cy="3714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9FBDBF-6F2A-4C9E-A45A-F4D11CFF5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9812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总体确认状态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32C7FB-EE3C-45B3-861F-9F0A746EB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571750"/>
            <a:ext cx="1524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4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332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39BE22-97A4-419B-93BB-26F0AD47D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2385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Known · 20.05%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BFCFBA-7F87-434C-A8F8-1444160D9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733800"/>
            <a:ext cx="2857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791751-71B1-4DED-BA19-AC2826AAA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48125"/>
            <a:ext cx="1809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4050" b="1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rPr>
              <a:t>1,324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D893D4-7EEF-4B02-B397-56AD4C196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7148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Unknown · 79.95%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1FC26D-7CEE-4FEB-BB82-08E1323A4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286375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75" b="0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rPr>
              <a:t>2026仅覆盖至7月29日，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275" b="0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rPr>
              <a:t>只作快照内描述。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758249-B2C9-415F-A264-D7777661E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BEBFDD-704F-4AD6-A048-E368B72CA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CISA KEV · 课程大作业第3题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D52B6B-46F7-41AE-87B3-EB7114381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5722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58108010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F7A107-6F35-471E-96B4-64CC65EF9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07 / VENDOR CONCENTRATION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DE2BBC-99AA-4DCA-A52E-4D962CF9E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8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Microsoft占23.07%，前十厂商标签覆盖54.11%记录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2143D7-DA58-4941-B44A-E8690E193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集中度只描述目录文本标签，不代表市场份额或安全质量。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f4d1ab094d4937"/>
          <a:stretch xmlns:a="http://schemas.openxmlformats.org/drawingml/2006/main"/>
        </p:blipFill>
        <p:spPr>
          <a:xfrm xmlns:a="http://schemas.openxmlformats.org/drawingml/2006/main">
            <a:off x="1063833" y="1809750"/>
            <a:ext cx="4254083" cy="2952750"/>
          </a:xfrm>
          <a:prstGeom xmlns:a="http://schemas.openxmlformats.org/drawingml/2006/main" prst="rect">
            <a:avLst/>
          </a:prstGeom>
        </p:spPr>
      </p:pic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c82315dd7e40f6"/>
          <a:stretch xmlns:a="http://schemas.openxmlformats.org/drawingml/2006/main"/>
        </p:blipFill>
        <p:spPr>
          <a:xfrm xmlns:a="http://schemas.openxmlformats.org/drawingml/2006/main">
            <a:off x="6286500" y="1872354"/>
            <a:ext cx="5238750" cy="2827543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25DCF7-C4E9-4FB0-912B-164C4347A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197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CR5  43.60%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5BBA6F-400B-48A5-8C31-3F31288EA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2197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CR10  54.11%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224E34-808D-4A19-884F-F308C50CA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21970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HHI  0.06841758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80AADF-6821-45B3-9AC4-F482B6800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667375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Top组合：Microsoft–Windows 172条（10.39%）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D36873-8062-4864-A860-02F950BC5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AE3403-EB21-429B-ACD8-6483324DA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CISA KEV · 课程大作业第3题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1F3C3B-9C4C-46BC-9D73-0CBF066EA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5722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65947001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C6FB64-2535-4202-B739-0E7F3C51E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08 / CWE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63A5BE-2229-4927-AD19-BE69A17A4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8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CWE是多标签字段，比较时必须使用正确分母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9B520C-FB68-4B05-90FE-0B40728F8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同一CVE可贡献多个CWE，因此各类占比不必互斥。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2f17f0216f448b"/>
          <a:stretch xmlns:a="http://schemas.openxmlformats.org/drawingml/2006/main"/>
        </p:blipFill>
        <p:spPr>
          <a:xfrm xmlns:a="http://schemas.openxmlformats.org/drawingml/2006/main">
            <a:off x="1010238" y="1809750"/>
            <a:ext cx="5409024" cy="3429000"/>
          </a:xfrm>
          <a:prstGeom xmlns:a="http://schemas.openxmlformats.org/drawingml/2006/main" prst="rect">
            <a:avLst/>
          </a:prstGeom>
        </p:spPr>
      </p:pic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d9e42316e2409d"/>
          <a:stretch xmlns:a="http://schemas.openxmlformats.org/drawingml/2006/main"/>
        </p:blipFill>
        <p:spPr>
          <a:xfrm xmlns:a="http://schemas.openxmlformats.org/drawingml/2006/main">
            <a:off x="7239000" y="1928462"/>
            <a:ext cx="4381500" cy="223907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23EA3D-EEC8-4EF3-81A6-C2C2288D7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572000"/>
            <a:ext cx="4381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31F783-6AD9-44B9-AAF4-050189F3E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7625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总体 1,485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62405B-03CB-4113-B83F-9B49E16B1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1244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BFDB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BFDBFE"/>
                </a:solidFill>
                <a:latin typeface="Microsoft YaHei"/>
                <a:ea typeface="Microsoft YaHei"/>
                <a:cs typeface="Microsoft YaHei"/>
              </a:rPr>
              <a:t>Known 294   /   Unknown 1,191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83A2E9-0CE1-4C14-92E2-8130B145C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2450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Top：CWE-20 · 118条 · 7.95%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3E88B6-BB24-4D9D-A322-862027B28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222223-5B88-49EE-B4E8-25528853F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CISA KEV · 课程大作业第3题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6E97E7-7331-4636-AF62-934CE14DC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5722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83567037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CD79F34-CB7F-4F37-9AB8-C7828CA94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09 / QUERY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CAE1C9-62E5-4512-ACC7-C09390B46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8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多个条件按AND组合，查询结果可以被复现和导出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D8C122-73AA-432D-9422-F62389EE1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核心函数保持题目指定签名，GUI产品筛选通过扩展包装器增加。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66D36E-5E21-4A67-81FC-A44D5EDEB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5905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E79639-2E16-41A1-85BE-2DD45B5AA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90750"/>
            <a:ext cx="5143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filter_kev(df,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  start_date, end_date,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  vendor, ransomware, cwe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204C45-9246-43A8-860D-B68412CB9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05250"/>
            <a:ext cx="5143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BFDB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BFDBFE"/>
                </a:solidFill>
                <a:latin typeface="Microsoft YaHei"/>
                <a:ea typeface="Microsoft YaHei"/>
                <a:cs typeface="Microsoft YaHei"/>
              </a:rPr>
              <a:t>日期闭区间 · 字面子串 · 精确CWE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BFDB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BFDBFE"/>
                </a:solidFill>
                <a:latin typeface="Microsoft YaHei"/>
                <a:ea typeface="Microsoft YaHei"/>
                <a:cs typeface="Microsoft YaHei"/>
              </a:rPr>
              <a:t>非法参数抛异常 · 输入表不修改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BFDB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BFDBFE"/>
                </a:solidFill>
                <a:latin typeface="Microsoft YaHei"/>
                <a:ea typeface="Microsoft YaHei"/>
                <a:cs typeface="Microsoft YaHei"/>
              </a:rPr>
              <a:t>结果按 dateAdded DESC, cveID ASC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121F94-D744-46A1-884B-3E1264B02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076450"/>
            <a:ext cx="3810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6A3C41-8405-4DC1-8046-CF0D03611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2860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D3F422-21F1-4E2E-8CC9-CBAE1F170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238375"/>
            <a:ext cx="2333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Microsoft + Known + 2022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0A72CD-EFED-4CF9-9554-8C0D84800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343150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51条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FC1A09-7D07-471B-980A-9DD82103E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124200"/>
            <a:ext cx="3810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4D95A6-7406-4BD6-8356-882B60816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33375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E6C026-C7C8-4C3B-AF97-C2821564C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286125"/>
            <a:ext cx="2333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Microsoft + CWE-119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F7104E-E810-491B-9F9D-3AA23D716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390900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34条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A8B174-F4CA-47BB-8832-69D319678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171950"/>
            <a:ext cx="3810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B5D256-9C0D-48F2-A217-B49F8B8BC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43815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E29F3E-2D77-446C-8876-EDFCDB332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333875"/>
            <a:ext cx="2333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2022 + Unknown + CWE-119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C31088-3F9B-4E5D-88CA-8446BBD97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438650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60条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993D8C-BF56-4A36-A1EE-20C8763B8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4102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三组实际记录已写入 outputs/queries/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78B253-5119-483F-91E4-CFCA93050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D59575-6805-4CCE-A6FB-CFBB837F4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CISA KEV · 课程大作业第3题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F8B353-F1A5-4ADA-B227-6013D6C1D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5722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70383357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7A152A-BD25-4800-BACB-0F49F96B2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10 / GUI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A7DFBA-70DB-4F71-B796-F21C21CF0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8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上传原始JSON后，查询、图表和详情共享同一数据底座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AC8B90-1B24-4791-B42E-8614C0564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GUI不把prepared CSV当成输入，避免类型和语义被二次解析。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876c3c39f74ef4"/>
          <a:stretch xmlns:a="http://schemas.openxmlformats.org/drawingml/2006/main"/>
        </p:blipFill>
        <p:spPr>
          <a:xfrm xmlns:a="http://schemas.openxmlformats.org/drawingml/2006/main">
            <a:off x="923925" y="1790700"/>
            <a:ext cx="5943600" cy="3714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1EBF48-2E35-4B3D-A93B-A375D7378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866900"/>
            <a:ext cx="37147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54DFC4-5160-4EB9-AA12-DED5E62C4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526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页面能力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60CF86-E5EA-4131-ADB5-CCC6DEA92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724150"/>
            <a:ext cx="3048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4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元数据与校验状态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4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日期 / 厂商 / 产品 / 状态 / CWE筛选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4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月度、厂商、CWE动态图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4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CVE表格与详情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4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CSV / PNG下载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4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机器学习结果页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BD06C7-C9CE-41FB-8DCC-89AF0DFE3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42925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Streamlit · app.py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2C8515-3C7A-4329-9857-3D18BE56E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A711D3-3B9F-4BBA-8FAD-16AACACEA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CISA KEV · 课程大作业第3题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08B7C3-FFA6-4A06-A1CA-2C185852F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5722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04442440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82D8CF-81B0-4732-A4EF-546C561A8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11 / MACHINE LEARNING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FD4A6B-DAD4-4EB1-A143-CE3FC013F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8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TF-IDF + KMeans适合探索文本相似性，不是风险预测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E2C9CE-4BC5-4B09-97B5-8A44299FB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当前候选范围内选择k=8，但轮廓系数仍然较低。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f519b126b343f9"/>
          <a:stretch xmlns:a="http://schemas.openxmlformats.org/drawingml/2006/main"/>
        </p:blipFill>
        <p:spPr>
          <a:xfrm xmlns:a="http://schemas.openxmlformats.org/drawingml/2006/main">
            <a:off x="1378805" y="1809750"/>
            <a:ext cx="5052890" cy="3619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56EE93-3D2B-4B62-824C-735EFFA18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924050"/>
            <a:ext cx="3714750" cy="2705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F40AB4-F109-4EB9-AB31-5BDDE496C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2098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5921E5-042B-455D-A5AF-5F6660703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724150"/>
            <a:ext cx="2857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E0F2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E0F2FE"/>
                </a:solidFill>
                <a:latin typeface="Microsoft YaHei"/>
                <a:ea typeface="Microsoft YaHei"/>
                <a:cs typeface="Microsoft YaHei"/>
              </a:rPr>
              <a:t>文本：漏洞名称 + 描述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E0F2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E0F2FE"/>
                </a:solidFill>
                <a:latin typeface="Microsoft YaHei"/>
                <a:ea typeface="Microsoft YaHei"/>
                <a:cs typeface="Microsoft YaHei"/>
              </a:rPr>
              <a:t>特征：TF-IDF 1–2 gram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E0F2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E0F2FE"/>
                </a:solidFill>
                <a:latin typeface="Microsoft YaHei"/>
                <a:ea typeface="Microsoft YaHei"/>
                <a:cs typeface="Microsoft YaHei"/>
              </a:rPr>
              <a:t>候选：k = 4, 5, 6, 7, 8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E0F2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E0F2FE"/>
                </a:solidFill>
                <a:latin typeface="Microsoft YaHei"/>
                <a:ea typeface="Microsoft YaHei"/>
                <a:cs typeface="Microsoft YaHei"/>
              </a:rPr>
              <a:t>选择：轮廓系数最高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E0F2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E0F2FE"/>
                </a:solidFill>
                <a:latin typeface="Microsoft YaHei"/>
                <a:ea typeface="Microsoft YaHei"/>
                <a:cs typeface="Microsoft YaHei"/>
              </a:rPr>
              <a:t>随机种子：20260806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D9EDF6-3751-47DD-A2D9-3E4A8B408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048250"/>
            <a:ext cx="3714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k = 8   /   silhouette = 0.07116479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64BA91-2809-45AB-917B-A78FCF4EE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667375"/>
            <a:ext cx="3714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2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最大簇占40.40%，类别存在重叠。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D81F3C-59C0-434A-BB69-C24E4AB0B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D1D8A9-D77E-4A2F-AC7A-D543F0814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CISA KEV · 课程大作业第3题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E3F19F-3705-4DC0-B09D-32D0E5D8F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5722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87796732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E51C033-6ADA-4239-AF49-D0F10E2D9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93C5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93C5FD"/>
                </a:solidFill>
                <a:latin typeface="Microsoft YaHei"/>
                <a:ea typeface="Microsoft YaHei"/>
                <a:cs typeface="Microsoft YaHei"/>
              </a:rPr>
              <a:t>12 / LIVE DEMO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83B6DC-DE9B-4FBB-81D0-C171034B2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685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8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两分钟走完一次可复现查询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5d6188261642ee"/>
          <a:stretch xmlns:a="http://schemas.openxmlformats.org/drawingml/2006/main"/>
        </p:blipFill>
        <p:spPr>
          <a:xfrm xmlns:a="http://schemas.openxmlformats.org/drawingml/2006/main">
            <a:off x="990600" y="1714500"/>
            <a:ext cx="6096000" cy="38100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73665B-6970-4152-BE18-29FA9AC94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1450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A5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FC2921-FC91-480A-9C3F-8F9E5A236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33550"/>
            <a:ext cx="266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6554D8-2882-4409-B693-B5C8DCB14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724025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上传JSON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539C89-DF31-43FA-A2F8-A23A45ACA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295525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A5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13F8F4-1BEE-4D2E-A082-D00CFF3F2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14575"/>
            <a:ext cx="266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B7A4D6-391D-4343-9356-20284C7A5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30505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查看校验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5E9635-D0EF-456E-B319-E325D3CCB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87655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A5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91896E-6073-46EA-8BF2-84D994B7C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895600"/>
            <a:ext cx="266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E62257-AAC6-4D27-B956-654C360B0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86075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输入三条件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C5FB69-11DE-4494-8F14-C33CAFFE2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457575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A5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8A77C4-7181-4DBB-AD1C-09D39E5CC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476625"/>
            <a:ext cx="266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F75E4A-CC2A-4988-9B28-98318C27C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6710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确认4条结果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4A3AB4-4E76-4841-A877-32532D476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03860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237D7C-E7C6-41E4-8C53-9CE71808B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057650"/>
            <a:ext cx="266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E73DC3-A24E-4D95-A436-40CEBE16A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48125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详情与导出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4BBC13-4BDA-4063-BCC6-041CBF37F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619625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3891CB-0AE9-498D-8C45-4D28160C8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638675"/>
            <a:ext cx="266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6B7BEA-C39F-4A62-A72F-E19E71CDF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2915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ML页面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C133B5-938E-4B46-98B2-9F5956A63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876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0">
                <a:solidFill>
                  <a:srgbClr val="BFDB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BFDBFE"/>
                </a:solidFill>
                <a:latin typeface="Microsoft YaHei"/>
                <a:ea typeface="Microsoft YaHei"/>
                <a:cs typeface="Microsoft YaHei"/>
              </a:rPr>
              <a:t>演示参数：vendor=Microsoft · ransomware=Known · cwe=CWE-119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C1B89D-2F53-4AB3-ACD6-28410AC19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5722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9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20500239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A199C8-DF50-4DCD-AC9F-CBA01F0E6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13 / CLOSE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151B81-2519-4C41-98C7-6E6F33CD0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8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同一份数据契约，让代码、报告和演示保持一致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DE7303-48C6-4215-8CCD-69CE826BA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系统完成了从原始快照到可复现分析结果的闭环。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14694E-B7C0-491D-A8A1-21A9C0FDF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495300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DFFC5A-45B6-40E1-B9CA-AB77A7AF1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6695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项目成果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D5BA89-8F57-4405-9F1B-1EDA895C2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76550"/>
            <a:ext cx="3905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75" b="0">
                <a:solidFill>
                  <a:srgbClr val="E0F2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E0F2FE"/>
                </a:solidFill>
                <a:latin typeface="Microsoft YaHei"/>
                <a:ea typeface="Microsoft YaHei"/>
                <a:cs typeface="Microsoft YaHei"/>
              </a:rPr>
              <a:t>• 80分必做模块全部覆盖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75" b="0">
                <a:solidFill>
                  <a:srgbClr val="E0F2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E0F2FE"/>
                </a:solidFill>
                <a:latin typeface="Microsoft YaHei"/>
                <a:ea typeface="Microsoft YaHei"/>
                <a:cs typeface="Microsoft YaHei"/>
              </a:rPr>
              <a:t>• GUI与机器学习扩展完成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75" b="0">
                <a:solidFill>
                  <a:srgbClr val="E0F2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E0F2FE"/>
                </a:solidFill>
                <a:latin typeface="Microsoft YaHei"/>
                <a:ea typeface="Microsoft YaHei"/>
                <a:cs typeface="Microsoft YaHei"/>
              </a:rPr>
              <a:t>• 测试、契约和Manifest接入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75" b="0">
                <a:solidFill>
                  <a:srgbClr val="E0F2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E0F2FE"/>
                </a:solidFill>
                <a:latin typeface="Microsoft YaHei"/>
                <a:ea typeface="Microsoft YaHei"/>
                <a:cs typeface="Microsoft YaHei"/>
              </a:rPr>
              <a:t>• 报告、PPT和截图材料统一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44AEDE-6359-42D9-B573-0C5D8BD1E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669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三人协作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10736C-066A-406F-BDE4-84704275C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876550"/>
            <a:ext cx="123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成员一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145DFC-6DE8-4FC1-8DFA-42AA25D15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876550"/>
            <a:ext cx="323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数据底座 · 集成 · 测试 · 总编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4EE49C-2B00-4213-981D-7E77053B4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48050"/>
            <a:ext cx="123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成员二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E7DBDB-3EFF-4F0A-ADC6-4900F485E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448050"/>
            <a:ext cx="323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统计分析 · 集中度 · KMeans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636A49-83AF-4B1F-9105-E95DF7038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19550"/>
            <a:ext cx="123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rPr>
              <a:t>成员三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62A8B3-397D-4521-AF7B-012676EF1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019550"/>
            <a:ext cx="323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CWE · 查询 · GUI · 演示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46D54D-2D24-4B2F-AB3D-087394FB0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62500"/>
            <a:ext cx="4762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5FDE8A-31B3-4F7E-AF98-841551EA6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000625"/>
            <a:ext cx="428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限制：快照描述 ≠ 全部现实；聚类 ≠ 风险预测。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E0AB6F-96C5-4B88-BE82-1F8DC42C0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9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谢谢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154A34-0E4A-4689-A47D-C8FD3B524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2C7F9D-60A1-49B2-973A-02F88B7C6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CISA KEV · 课程大作业第3题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2F44FD-1BC6-4F5C-80CF-3C646FF2B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5722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92928013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2026-08-17T22:57:53.2430000Z</dcterms:created>
  <dcterms:modified xsi:type="dcterms:W3CDTF">2026-08-17T22:57:53.2430000Z</dcterms:modified>
</coreProperties>
</file>